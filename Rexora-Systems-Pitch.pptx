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5852160" cy="5852160"/>
          </a:xfrm>
          <a:prstGeom prst="ellipse">
            <a:avLst/>
          </a:prstGeom>
          <a:solidFill>
            <a:srgbClr val="4ADE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2286000"/>
            <a:ext cx="6400800" cy="640080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914400"/>
            <a:ext cx="5486400" cy="5486400"/>
          </a:xfrm>
          <a:prstGeom prst="ellipse">
            <a:avLst/>
          </a:prstGeom>
          <a:solidFill>
            <a:srgbClr val="60A5F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FOR AFRICAN SMES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If your business runs on</a:t>
            </a:r>
          </a:p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WhatsApp chats and a notebook…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1">
                <a:solidFill>
                  <a:srgbClr val="4ADE80"/>
                </a:solidFill>
                <a:latin typeface="Poppins"/>
              </a:rPr>
              <a:t>this is for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Rexora Systems  ·  Digital Systems. Smarter Operations. Bigger Impact.</a:t>
            </a:r>
          </a:p>
        </p:txBody>
      </p:sp>
    </p:spTree>
  </p:cSld>
  <p:clrMapOvr>
    <a:masterClrMapping/>
  </p:clrMapOvr>
  <p:transition spd="med" advTm="4000" advClick="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60A5F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THE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0" b="1" i="0">
                <a:solidFill>
                  <a:srgbClr val="4ADE80"/>
                </a:solidFill>
                <a:latin typeface="Poppins"/>
              </a:rPr>
              <a:t>9 out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African SMEs we audit have the same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D1D5DB"/>
                </a:solidFill>
                <a:latin typeface="Inter"/>
              </a:rPr>
              <a:t>Every booking, every payment, every customer</a:t>
            </a:r>
          </a:p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D1D5DB"/>
                </a:solidFill>
                <a:latin typeface="Inter"/>
              </a:rPr>
              <a:t>lives in someone's head — or a chat thread.</a:t>
            </a:r>
          </a:p>
        </p:txBody>
      </p:sp>
    </p:spTree>
  </p:cSld>
  <p:clrMapOvr>
    <a:masterClrMapping/>
  </p:clrMapOvr>
  <p:transition spd="med" advTm="5000" advClick="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TODAY, YOUR BUSINESS RUNS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A patchwork, not a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18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5187" y="3108960"/>
            <a:ext cx="24688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378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78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78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bookings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266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2667" y="3108960"/>
            <a:ext cx="2468880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126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A5FA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126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A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126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payments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3108960"/>
            <a:ext cx="246888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74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One person's mind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4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everything else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762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7627" y="3108960"/>
            <a:ext cx="24688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622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22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An IG bio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instead of a website</a:t>
            </a:r>
          </a:p>
        </p:txBody>
      </p:sp>
    </p:spTree>
  </p:cSld>
  <p:clrMapOvr>
    <a:masterClrMapping/>
  </p:clrMapOvr>
  <p:transition spd="med" advTm="5000" advClick="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Inter"/>
              </a:rPr>
              <a:t>THE HIDDEN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When there's no system…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27355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That person travels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735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business stops.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7764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41422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The chat gets archived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1422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money is lost.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84632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50109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You want to 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01091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you can't. There's no system to grow into.</a:t>
            </a:r>
          </a:p>
        </p:txBody>
      </p:sp>
    </p:spTree>
  </p:cSld>
  <p:clrMapOvr>
    <a:masterClrMapping/>
  </p:clrMapOvr>
  <p:transition spd="med" advTm="6000" advClick="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17904" y="-1143000"/>
            <a:ext cx="9144000" cy="9144000"/>
          </a:xfrm>
          <a:prstGeom prst="ellipse">
            <a:avLst/>
          </a:prstGeom>
          <a:solidFill>
            <a:srgbClr val="4ADE8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Poppins"/>
              </a:rPr>
              <a:t>Your business deserves a </a:t>
            </a:r>
            <a:r>
              <a:rPr sz="5000" b="1" i="0">
                <a:solidFill>
                  <a:srgbClr val="4ADE80"/>
                </a:solidFill>
                <a:latin typeface="Poppins"/>
              </a:rPr>
              <a:t>system</a:t>
            </a:r>
            <a:r>
              <a:rPr sz="5000" b="1" i="0">
                <a:solidFill>
                  <a:srgbClr val="FFFFFF"/>
                </a:solidFill>
                <a:latin typeface="Poppins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Poppins"/>
              </a:rPr>
              <a:t>not a notebook.</a:t>
            </a:r>
          </a:p>
        </p:txBody>
      </p:sp>
    </p:spTree>
  </p:cSld>
  <p:clrMapOvr>
    <a:masterClrMapping/>
  </p:clrMapOvr>
  <p:transition spd="med" advTm="4000" advClick="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WHAT WE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Three outcomes. Zero fluff.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88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887" y="3017520"/>
            <a:ext cx="338328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5207" y="347472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20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ADE80"/>
                </a:solidFill>
                <a:latin typeface="Poppins"/>
              </a:rPr>
              <a:t>DRIVE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Websites &amp; funnels that sell while you sleep.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420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4207" y="3017520"/>
            <a:ext cx="3383280" cy="914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78527" y="347472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52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A5FA"/>
                </a:solidFill>
                <a:latin typeface="Poppins"/>
              </a:rPr>
              <a:t>AUTOMATE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Bookings, payments &amp; reminders that run themselves.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527" y="3017520"/>
            <a:ext cx="338328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81847" y="34747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84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A78BFA"/>
                </a:solidFill>
                <a:latin typeface="Poppins"/>
              </a:rPr>
              <a:t>ELEVATE BRAND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A premium presence that builds trust.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Inter"/>
              </a:rPr>
              <a:t>Built for African SMEs — schools, churches, clinics, and growing businesses.</a:t>
            </a:r>
          </a:p>
        </p:txBody>
      </p:sp>
    </p:spTree>
  </p:cSld>
  <p:clrMapOvr>
    <a:masterClrMapping/>
  </p:clrMapOvr>
  <p:transition spd="med" advTm="6000" advClick="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4ADE8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Trusted by ambitious teams across Africa.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08792" cy="7772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ARTEESANS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8212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THE SQUARCLE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6344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CJB MINISTRY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VENDORA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2608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LAMAH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0740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DREAMPAWS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023360"/>
            <a:ext cx="9418320" cy="210312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023360"/>
            <a:ext cx="91440" cy="2103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29768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DE80"/>
                </a:solidFill>
                <a:latin typeface="Inter"/>
              </a:rPr>
              <a:t>★★★★★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6344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FFFFF"/>
                </a:solidFill>
                <a:latin typeface="Poppins"/>
              </a:rPr>
              <a:t>“Bookings doubled overnight. Clients pay before they walk in —</a:t>
            </a:r>
          </a:p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FFFFF"/>
                </a:solidFill>
                <a:latin typeface="Poppins"/>
              </a:rPr>
              <a:t>it's like having a salesperson who never sleeps.”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7150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A3AF"/>
                </a:solidFill>
                <a:latin typeface="Inter"/>
              </a:rPr>
              <a:t>— Vendora  ·  Business</a:t>
            </a:r>
          </a:p>
        </p:txBody>
      </p:sp>
    </p:spTree>
  </p:cSld>
  <p:clrMapOvr>
    <a:masterClrMapping/>
  </p:clrMapOvr>
  <p:transition spd="med" advTm="6000" advClick="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17904" y="-1143000"/>
            <a:ext cx="9144000" cy="9144000"/>
          </a:xfrm>
          <a:prstGeom prst="ellipse">
            <a:avLst/>
          </a:prstGeom>
          <a:solidFill>
            <a:srgbClr val="4ADE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FREE BUSINESS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Let's build something that </a:t>
            </a:r>
          </a:p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4ADE80"/>
                </a:solidFill>
                <a:latin typeface="Poppins"/>
              </a:rPr>
              <a:t>makes you money</a:t>
            </a:r>
            <a:r>
              <a:rPr sz="4600" b="1" i="0">
                <a:solidFill>
                  <a:srgbClr val="FFFFFF"/>
                </a:solidFill>
                <a:latin typeface="Poppi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We'll map exactly what to automate, what to launch, and what it'll be worth to your bottom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407" y="4892040"/>
            <a:ext cx="4754880" cy="7772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7" y="505663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F"/>
                </a:solidFill>
                <a:latin typeface="Poppins"/>
              </a:rPr>
              <a:t>Get a free system audit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rexorasystems.com</a:t>
            </a:r>
            <a:r>
              <a:rPr sz="1400" b="0" i="0">
                <a:solidFill>
                  <a:srgbClr val="6B7280"/>
                </a:solidFill>
                <a:latin typeface="Inter"/>
              </a:rPr>
              <a:t>   ·  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hello@rexorasystems.com</a:t>
            </a:r>
          </a:p>
        </p:txBody>
      </p:sp>
    </p:spTree>
  </p:cSld>
  <p:clrMapOvr>
    <a:masterClrMapping/>
  </p:clrMapOvr>
  <p:transition spd="med" advTm="6000" advClick="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